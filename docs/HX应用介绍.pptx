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206240"/>
            <a:ext cx="9144000" cy="937260"/>
          </a:xfrm>
          <a:prstGeom prst="rect">
            <a:avLst/>
          </a:prstGeom>
          <a:solidFill>
            <a:srgbClr val="13315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3444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HX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B8D4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交付控制框架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26517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C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WebUI 组织治理  ·  nhx 本地交付  ·  Guide / Sensor 驱动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44348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D4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组织级资产配置  ·  前馈指导  ·  反馈门禁  ·  人工审批闭环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8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要解决的问题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11480" y="6217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编程提速之后，团队落地仍有五类断点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1051560"/>
            <a:ext cx="83210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16128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D7377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161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110642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需求与实现脱节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51560" y="13441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目标、边界、验收标准难以稳定传递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11480" y="1709928"/>
            <a:ext cx="83210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02920" y="1819656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D7377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18196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51560" y="17647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组织资产难复用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51560" y="200253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规范、模板、检查规则散落，项目间难同步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11480" y="2368296"/>
            <a:ext cx="83210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02920" y="2478024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D7377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24780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51560" y="242316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交付不可追溯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051560" y="26609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谁在何时做了什么，缺少统一日志视角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11480" y="3026664"/>
            <a:ext cx="83210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02920" y="3136392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D7377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31363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51560" y="308152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多角色协作成本高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051560" y="331927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 / 架构 / 开发 / 测试缺公共控制面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11480" y="3685032"/>
            <a:ext cx="83210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02920" y="3794760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D7377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51560" y="3739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本地与治理割裂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051560" y="397764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开发侧操作与组织侧资产没有一体化闭环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HX 交付控制框架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98080" y="482803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/ 14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8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基本理念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11480" y="6217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 · 内部 Harness · 外部 Harness 三层结构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2606040" cy="292608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280160"/>
            <a:ext cx="2606040" cy="109728"/>
          </a:xfrm>
          <a:prstGeom prst="rect">
            <a:avLst/>
          </a:prstGeom>
          <a:solidFill>
            <a:srgbClr val="A8C0D8"/>
          </a:solidFill>
          <a:ln/>
        </p:spPr>
      </p:sp>
      <p:sp>
        <p:nvSpPr>
          <p:cNvPr id="8" name="Shape 6"/>
          <p:cNvSpPr/>
          <p:nvPr/>
        </p:nvSpPr>
        <p:spPr>
          <a:xfrm>
            <a:off x="1371600" y="1645920"/>
            <a:ext cx="868680" cy="868680"/>
          </a:xfrm>
          <a:prstGeom prst="ellipse">
            <a:avLst/>
          </a:prstGeom>
          <a:solidFill>
            <a:srgbClr val="13315C"/>
          </a:solidFill>
          <a:ln/>
        </p:spPr>
      </p:sp>
      <p:sp>
        <p:nvSpPr>
          <p:cNvPr id="9" name="Text 7"/>
          <p:cNvSpPr/>
          <p:nvPr/>
        </p:nvSpPr>
        <p:spPr>
          <a:xfrm>
            <a:off x="1371600" y="16459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40080" y="26974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基础模型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5800" y="31546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大模型能力底座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337560" y="1280160"/>
            <a:ext cx="2606040" cy="292608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337560" y="1280160"/>
            <a:ext cx="2606040" cy="109728"/>
          </a:xfrm>
          <a:prstGeom prst="rect">
            <a:avLst/>
          </a:prstGeom>
          <a:solidFill>
            <a:srgbClr val="B8D4D4"/>
          </a:solidFill>
          <a:ln/>
        </p:spPr>
      </p:sp>
      <p:sp>
        <p:nvSpPr>
          <p:cNvPr id="14" name="Shape 12"/>
          <p:cNvSpPr/>
          <p:nvPr/>
        </p:nvSpPr>
        <p:spPr>
          <a:xfrm>
            <a:off x="4206240" y="1645920"/>
            <a:ext cx="868680" cy="868680"/>
          </a:xfrm>
          <a:prstGeom prst="ellipse">
            <a:avLst/>
          </a:prstGeom>
          <a:solidFill>
            <a:srgbClr val="13315C"/>
          </a:solidFill>
          <a:ln/>
        </p:spPr>
      </p:sp>
      <p:sp>
        <p:nvSpPr>
          <p:cNvPr id="15" name="Text 13"/>
          <p:cNvSpPr/>
          <p:nvPr/>
        </p:nvSpPr>
        <p:spPr>
          <a:xfrm>
            <a:off x="4206240" y="16459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474720" y="26974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 Harness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20440" y="31546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 / Code Agent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 Cursor、Trae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72200" y="1280160"/>
            <a:ext cx="2606040" cy="292608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172200" y="1280160"/>
            <a:ext cx="2606040" cy="109728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20" name="Shape 18"/>
          <p:cNvSpPr/>
          <p:nvPr/>
        </p:nvSpPr>
        <p:spPr>
          <a:xfrm>
            <a:off x="7040880" y="1645920"/>
            <a:ext cx="868680" cy="868680"/>
          </a:xfrm>
          <a:prstGeom prst="ellipse">
            <a:avLst/>
          </a:prstGeom>
          <a:solidFill>
            <a:srgbClr val="0D7377"/>
          </a:solidFill>
          <a:ln/>
        </p:spPr>
      </p:sp>
      <p:sp>
        <p:nvSpPr>
          <p:cNvPr id="21" name="Text 19"/>
          <p:cNvSpPr/>
          <p:nvPr/>
        </p:nvSpPr>
        <p:spPr>
          <a:xfrm>
            <a:off x="7040880" y="16459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6309360" y="26974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 Harness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355080" y="31546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企业约束、规范与治理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HX 交付控制框架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HX 交付控制框架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498080" y="482803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/ 14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8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实现机制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11480" y="6217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前馈指导生成，反馈确认与迭代结果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105156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0B2545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D4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前馈  Feedforward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16002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 Guide（Skill / Template / Constraint 等）在生成前注入约束与上下文，指导 Agent 产出。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09160" y="105156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0D7377"/>
          </a:solidFill>
          <a:ln/>
        </p:spPr>
      </p:sp>
      <p:sp>
        <p:nvSpPr>
          <p:cNvPr id="10" name="Text 8"/>
          <p:cNvSpPr/>
          <p:nvPr/>
        </p:nvSpPr>
        <p:spPr>
          <a:xfrm>
            <a:off x="493776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反馈  Feedback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937760" y="16002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 Sensor 校验与门禁（含人工审批），确认结果质量，并驱动更正与迭代闭环。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" y="2834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运行时闭环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320040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3337560"/>
            <a:ext cx="365760" cy="365760"/>
          </a:xfrm>
          <a:prstGeom prst="ellipse">
            <a:avLst/>
          </a:prstGeom>
          <a:solidFill>
            <a:srgbClr val="0D7377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337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384048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环境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4114800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Cursor / Trae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560320" y="320040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>
            <a:off x="2697480" y="3337560"/>
            <a:ext cx="365760" cy="365760"/>
          </a:xfrm>
          <a:prstGeom prst="ellipse">
            <a:avLst/>
          </a:prstGeom>
          <a:solidFill>
            <a:srgbClr val="0D7377"/>
          </a:solidFill>
          <a:ln/>
        </p:spPr>
      </p:sp>
      <p:sp>
        <p:nvSpPr>
          <p:cNvPr id="20" name="Text 18"/>
          <p:cNvSpPr/>
          <p:nvPr/>
        </p:nvSpPr>
        <p:spPr>
          <a:xfrm>
            <a:off x="2697480" y="3337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697480" y="384048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前馈注入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697480" y="4114800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Context Pack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709160" y="320040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4846320" y="3337560"/>
            <a:ext cx="365760" cy="365760"/>
          </a:xfrm>
          <a:prstGeom prst="ellipse">
            <a:avLst/>
          </a:prstGeom>
          <a:solidFill>
            <a:srgbClr val="0D7377"/>
          </a:solidFill>
          <a:ln/>
        </p:spPr>
      </p:sp>
      <p:sp>
        <p:nvSpPr>
          <p:cNvPr id="25" name="Text 23"/>
          <p:cNvSpPr/>
          <p:nvPr/>
        </p:nvSpPr>
        <p:spPr>
          <a:xfrm>
            <a:off x="4846320" y="3337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846320" y="384048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Sensor 反馈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46320" y="4114800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迭代修订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858000" y="320040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6995160" y="3337560"/>
            <a:ext cx="365760" cy="365760"/>
          </a:xfrm>
          <a:prstGeom prst="ellipse">
            <a:avLst/>
          </a:prstGeom>
          <a:solidFill>
            <a:srgbClr val="0D7377"/>
          </a:solidFill>
          <a:ln/>
        </p:spPr>
      </p:sp>
      <p:sp>
        <p:nvSpPr>
          <p:cNvPr id="30" name="Text 28"/>
          <p:cNvSpPr/>
          <p:nvPr/>
        </p:nvSpPr>
        <p:spPr>
          <a:xfrm>
            <a:off x="6995160" y="3337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995160" y="384048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门禁通过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995160" y="4114800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进入下一阶段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7200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HX 交付控制框架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498080" y="482803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/ 14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8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产品架构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11480" y="6217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WebUI 治理 + nhx 交付，前后端双闭环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051560"/>
            <a:ext cx="4069080" cy="3383280"/>
          </a:xfrm>
          <a:prstGeom prst="roundRect">
            <a:avLst>
              <a:gd name="adj" fmla="val 2703"/>
            </a:avLst>
          </a:prstGeom>
          <a:solidFill>
            <a:srgbClr val="0B2545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D4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WebUI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94360" y="1645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C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 HX 维护  ·  项目 HX 管理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1031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 Profile / Stage &amp; Task 矩阵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 Guide &amp; Sensor 资产治理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28346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 壳编辑器（Command / Skill）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2004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 产物列表 · 审批工单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35661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 GitHub 推送 / 项目同步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709160" y="1051560"/>
            <a:ext cx="4069080" cy="3383280"/>
          </a:xfrm>
          <a:prstGeom prst="roundRect">
            <a:avLst>
              <a:gd name="adj" fmla="val 2703"/>
            </a:avLst>
          </a:prstGeom>
          <a:solidFill>
            <a:srgbClr val="0D7377"/>
          </a:solidFill>
          <a:ln/>
        </p:spPr>
      </p:sp>
      <p:sp>
        <p:nvSpPr>
          <p:cNvPr id="15" name="Text 13"/>
          <p:cNvSpPr/>
          <p:nvPr/>
        </p:nvSpPr>
        <p:spPr>
          <a:xfrm>
            <a:off x="493776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nhx CLI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937760" y="1645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1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本地交付执行面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0" y="21031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 init / sync 拉资产并投影 IDE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983480" y="24688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 Command / Skill 双壳注入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83480" y="28346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 IDE Hooks 驱动 Sensor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983480" y="32004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 submit 上传产物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983480" y="35661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 approve 发起人工审批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HX 交付控制框架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498080" y="482803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/ 14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8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资产配置模型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11480" y="6217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Profile → Stage → Task → Guide / Sensor（无 Suite 中间层）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051560"/>
            <a:ext cx="274320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2700" dir="162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2161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73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087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Profile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18745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lite / standard / strict / enterprise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定义启用的 Stage 与严苛度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74320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2700" dir="16200000">
              <a:srgbClr val="000000">
                <a:alpha val="7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429000" y="12161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73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15087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Stage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429000" y="18745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四阶段交付语义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req · arch · dev · test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26480" y="1051560"/>
            <a:ext cx="274320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2700" dir="16200000">
              <a:srgbClr val="000000">
                <a:alpha val="7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309360" y="12161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73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09360" y="15087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Task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309360" y="18745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阶段内工作单元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直接绑定 Guide + Sensor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2743200"/>
            <a:ext cx="274320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2700" dir="16200000">
              <a:srgbClr val="000000">
                <a:alpha val="7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29077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73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32004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Guide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48640" y="35661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前馈资产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 / Template / Constraint …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246120" y="2743200"/>
            <a:ext cx="274320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2700" dir="16200000">
              <a:srgbClr val="000000">
                <a:alpha val="7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429000" y="29077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73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429000" y="32004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Sensor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3429000" y="35661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反馈门禁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rules / shell / inline / human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126480" y="2743200"/>
            <a:ext cx="274320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2700" dir="16200000">
              <a:srgbClr val="000000">
                <a:alpha val="7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309360" y="29077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73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309360" y="32004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Shell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309360" y="35661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Command + Skill 双投影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同一份 body + appendix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7200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HX 交付控制框架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498080" y="482803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/ 14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8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四阶段交付主线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11480" y="6217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资产可定制，按 Stage 编排 Guide 与 Sensor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2057400" cy="329184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1097280"/>
            <a:ext cx="2057400" cy="82296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170432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8D4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REQ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44475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75488" y="21488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业务理解 → 调研 → 分析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原型 → PRD 编写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3840480"/>
            <a:ext cx="1783080" cy="365760"/>
          </a:xfrm>
          <a:prstGeom prst="roundRect">
            <a:avLst>
              <a:gd name="adj" fmla="val 12500"/>
            </a:avLst>
          </a:prstGeom>
          <a:solidFill>
            <a:srgbClr val="E8F1F1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38404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954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human: prd-approved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560320" y="1097280"/>
            <a:ext cx="2057400" cy="329184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2560320" y="1097280"/>
            <a:ext cx="2057400" cy="822960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15" name="Text 13"/>
          <p:cNvSpPr/>
          <p:nvPr/>
        </p:nvSpPr>
        <p:spPr>
          <a:xfrm>
            <a:off x="2560320" y="1170432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8D4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ARCH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560320" y="144475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670048" y="21488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子系统 → 选型 → 库表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 → 关键机制 → LLD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697480" y="3840480"/>
            <a:ext cx="1783080" cy="365760"/>
          </a:xfrm>
          <a:prstGeom prst="roundRect">
            <a:avLst>
              <a:gd name="adj" fmla="val 12500"/>
            </a:avLst>
          </a:prstGeom>
          <a:solidFill>
            <a:srgbClr val="E8F1F1"/>
          </a:solidFill>
          <a:ln/>
        </p:spPr>
      </p:sp>
      <p:sp>
        <p:nvSpPr>
          <p:cNvPr id="19" name="Text 17"/>
          <p:cNvSpPr/>
          <p:nvPr/>
        </p:nvSpPr>
        <p:spPr>
          <a:xfrm>
            <a:off x="2697480" y="38404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954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human: arch-lld-approved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54880" y="1097280"/>
            <a:ext cx="2057400" cy="329184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754880" y="1097280"/>
            <a:ext cx="2057400" cy="82296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0" y="1170432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8D4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DEV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754880" y="144475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开发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864608" y="21488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plan → propose → design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apply → verify → archive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892040" y="3840480"/>
            <a:ext cx="1783080" cy="365760"/>
          </a:xfrm>
          <a:prstGeom prst="roundRect">
            <a:avLst>
              <a:gd name="adj" fmla="val 12500"/>
            </a:avLst>
          </a:prstGeom>
          <a:solidFill>
            <a:srgbClr val="E8F1F1"/>
          </a:solidFill>
          <a:ln/>
        </p:spPr>
      </p:sp>
      <p:sp>
        <p:nvSpPr>
          <p:cNvPr id="26" name="Text 24"/>
          <p:cNvSpPr/>
          <p:nvPr/>
        </p:nvSpPr>
        <p:spPr>
          <a:xfrm>
            <a:off x="4892040" y="38404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954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propose→verify 闭环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949440" y="1097280"/>
            <a:ext cx="2057400" cy="329184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/>
        </p:spPr>
      </p:sp>
      <p:sp>
        <p:nvSpPr>
          <p:cNvPr id="28" name="Shape 26"/>
          <p:cNvSpPr/>
          <p:nvPr/>
        </p:nvSpPr>
        <p:spPr>
          <a:xfrm>
            <a:off x="6949440" y="1097280"/>
            <a:ext cx="2057400" cy="822960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29" name="Text 27"/>
          <p:cNvSpPr/>
          <p:nvPr/>
        </p:nvSpPr>
        <p:spPr>
          <a:xfrm>
            <a:off x="6949440" y="1170432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8D4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949440" y="144475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7059168" y="21488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用例设计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测试执行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086600" y="3840480"/>
            <a:ext cx="1783080" cy="365760"/>
          </a:xfrm>
          <a:prstGeom prst="roundRect">
            <a:avLst>
              <a:gd name="adj" fmla="val 12500"/>
            </a:avLst>
          </a:prstGeom>
          <a:solidFill>
            <a:srgbClr val="E8F1F1"/>
          </a:solidFill>
          <a:ln/>
        </p:spPr>
      </p:sp>
      <p:sp>
        <p:nvSpPr>
          <p:cNvPr id="33" name="Text 31"/>
          <p:cNvSpPr/>
          <p:nvPr/>
        </p:nvSpPr>
        <p:spPr>
          <a:xfrm>
            <a:off x="7086600" y="38404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954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human: test-cases-approved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7200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HX 交付控制框架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498080" y="482803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/ 14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8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配置同步链路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11480" y="6217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 → 项目 → 本地 .nhx → IDE 投影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371600"/>
            <a:ext cx="1965960" cy="2194560"/>
          </a:xfrm>
          <a:prstGeom prst="roundRect">
            <a:avLst>
              <a:gd name="adj" fmla="val 4651"/>
            </a:avLst>
          </a:prstGeom>
          <a:solidFill>
            <a:srgbClr val="0B2545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55448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D4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205740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 HX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" y="25603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C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WebUI 维护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A8C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Profile / 资产 / 壳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194560" y="2194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7377"/>
                </a:solidFill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2560320" y="1371600"/>
            <a:ext cx="1965960" cy="2194560"/>
          </a:xfrm>
          <a:prstGeom prst="roundRect">
            <a:avLst>
              <a:gd name="adj" fmla="val 4651"/>
            </a:avLst>
          </a:prstGeom>
          <a:solidFill>
            <a:srgbClr val="0B2545"/>
          </a:solidFill>
          <a:ln/>
        </p:spPr>
      </p:sp>
      <p:sp>
        <p:nvSpPr>
          <p:cNvPr id="12" name="Text 10"/>
          <p:cNvSpPr/>
          <p:nvPr/>
        </p:nvSpPr>
        <p:spPr>
          <a:xfrm>
            <a:off x="2560320" y="155448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D4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205740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 HX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697480" y="25603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C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Profile 初始化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A8C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可自定义 Task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89120" y="2194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7377"/>
                </a:solidFill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4754880" y="1371600"/>
            <a:ext cx="1965960" cy="2194560"/>
          </a:xfrm>
          <a:prstGeom prst="roundRect">
            <a:avLst>
              <a:gd name="adj" fmla="val 4651"/>
            </a:avLst>
          </a:prstGeom>
          <a:solidFill>
            <a:srgbClr val="0B2545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155448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D4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846320" y="205740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 .nhx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892040" y="25603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C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nhx init / sync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A8C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拉资产与绑定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83680" y="2194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7377"/>
                </a:solidFill>
              </a:rPr>
              <a:t>→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6949440" y="1371600"/>
            <a:ext cx="1965960" cy="2194560"/>
          </a:xfrm>
          <a:prstGeom prst="roundRect">
            <a:avLst>
              <a:gd name="adj" fmla="val 4651"/>
            </a:avLst>
          </a:prstGeom>
          <a:solidFill>
            <a:srgbClr val="0D7377"/>
          </a:solidFill>
          <a:ln/>
        </p:spPr>
      </p:sp>
      <p:sp>
        <p:nvSpPr>
          <p:cNvPr id="22" name="Text 20"/>
          <p:cNvSpPr/>
          <p:nvPr/>
        </p:nvSpPr>
        <p:spPr>
          <a:xfrm>
            <a:off x="6949440" y="155448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D4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040880" y="205740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IDE 投影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086600" y="25603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C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nhx-* 命令/Skill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A8C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Cursor Hooks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11480" y="393192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与经典 hx / hxhub 并行隔离：本地根 .nhx/，命令前缀 nhx-*，Hooks 合并写入不覆盖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HX 交付控制框架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498080" y="482803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/ 14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8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Guide · 前馈资产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11480" y="6217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当前支持 8 类 Guide Kind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143000"/>
            <a:ext cx="20574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132588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B2545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97280" y="13716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" y="196596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guide.skill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167128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技能规范包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560320" y="1143000"/>
            <a:ext cx="20574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2697480" y="132588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B2545"/>
          </a:solidFill>
          <a:ln/>
        </p:spPr>
      </p:sp>
      <p:sp>
        <p:nvSpPr>
          <p:cNvPr id="14" name="Text 12"/>
          <p:cNvSpPr/>
          <p:nvPr/>
        </p:nvSpPr>
        <p:spPr>
          <a:xfrm>
            <a:off x="269748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291840" y="13716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Template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697480" y="196596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guide.template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697480" y="2167128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产出模板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1143000"/>
            <a:ext cx="20574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>
            <a:off x="4892040" y="132588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B2545"/>
          </a:solidFill>
          <a:ln/>
        </p:spPr>
      </p:sp>
      <p:sp>
        <p:nvSpPr>
          <p:cNvPr id="20" name="Text 18"/>
          <p:cNvSpPr/>
          <p:nvPr/>
        </p:nvSpPr>
        <p:spPr>
          <a:xfrm>
            <a:off x="489204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CO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0" y="13716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Constraint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892040" y="196596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guide.constraint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92040" y="2167128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硬约束规则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949440" y="1143000"/>
            <a:ext cx="20574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7086600" y="132588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B2545"/>
          </a:solidFill>
          <a:ln/>
        </p:spPr>
      </p:sp>
      <p:sp>
        <p:nvSpPr>
          <p:cNvPr id="26" name="Text 24"/>
          <p:cNvSpPr/>
          <p:nvPr/>
        </p:nvSpPr>
        <p:spPr>
          <a:xfrm>
            <a:off x="708660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EX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680960" y="13716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Exemplar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086600" y="196596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guide.exemplar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086600" y="2167128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好坏范例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2697480"/>
            <a:ext cx="20574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502920" y="288036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D7377"/>
          </a:solidFill>
          <a:ln/>
        </p:spPr>
      </p:sp>
      <p:sp>
        <p:nvSpPr>
          <p:cNvPr id="32" name="Text 30"/>
          <p:cNvSpPr/>
          <p:nvPr/>
        </p:nvSpPr>
        <p:spPr>
          <a:xfrm>
            <a:off x="502920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SC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097280" y="292608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Scaffold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02920" y="352044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guide.scaffold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2920" y="3721608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脚手架注入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560320" y="2697480"/>
            <a:ext cx="20574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2697480" y="288036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D7377"/>
          </a:solidFill>
          <a:ln/>
        </p:spPr>
      </p:sp>
      <p:sp>
        <p:nvSpPr>
          <p:cNvPr id="38" name="Text 36"/>
          <p:cNvSpPr/>
          <p:nvPr/>
        </p:nvSpPr>
        <p:spPr>
          <a:xfrm>
            <a:off x="2697480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CO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291840" y="292608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Codemod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697480" y="352044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guide.codemod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2697480" y="3721608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改造指引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754880" y="2697480"/>
            <a:ext cx="20574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/>
        </p:spPr>
      </p:sp>
      <p:sp>
        <p:nvSpPr>
          <p:cNvPr id="43" name="Shape 41"/>
          <p:cNvSpPr/>
          <p:nvPr/>
        </p:nvSpPr>
        <p:spPr>
          <a:xfrm>
            <a:off x="4892040" y="288036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D7377"/>
          </a:solidFill>
          <a:ln/>
        </p:spPr>
      </p:sp>
      <p:sp>
        <p:nvSpPr>
          <p:cNvPr id="44" name="Text 42"/>
          <p:cNvSpPr/>
          <p:nvPr/>
        </p:nvSpPr>
        <p:spPr>
          <a:xfrm>
            <a:off x="4892040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GL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486400" y="292608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Glossary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4892040" y="352044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guide.glossary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892040" y="3721608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领域术语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949440" y="2697480"/>
            <a:ext cx="20574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/>
        </p:spPr>
      </p:sp>
      <p:sp>
        <p:nvSpPr>
          <p:cNvPr id="49" name="Shape 47"/>
          <p:cNvSpPr/>
          <p:nvPr/>
        </p:nvSpPr>
        <p:spPr>
          <a:xfrm>
            <a:off x="7086600" y="288036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D7377"/>
          </a:solidFill>
          <a:ln/>
        </p:spPr>
      </p:sp>
      <p:sp>
        <p:nvSpPr>
          <p:cNvPr id="50" name="Text 48"/>
          <p:cNvSpPr/>
          <p:nvPr/>
        </p:nvSpPr>
        <p:spPr>
          <a:xfrm>
            <a:off x="7086600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7680960" y="292608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Capability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7086600" y="352044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guide.capability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7086600" y="3721608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能力边界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457200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HX 交付控制框架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7498080" y="482803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/ 14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8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Guide 触发与投影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11480" y="6217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 / Template 等汇入任务壳，注入 IDE 上下文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2697480" cy="2286000"/>
          </a:xfrm>
          <a:prstGeom prst="roundRect">
            <a:avLst>
              <a:gd name="adj" fmla="val 4000"/>
            </a:avLst>
          </a:prstGeom>
          <a:solidFill>
            <a:srgbClr val="0B2545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5544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Guide 资产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800" y="219456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8D4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 · Template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B8D4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Constraint · Scaffold …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063240" y="21945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7377"/>
                </a:solidFill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3337560" y="1280160"/>
            <a:ext cx="2697480" cy="2286000"/>
          </a:xfrm>
          <a:prstGeom prst="roundRect">
            <a:avLst>
              <a:gd name="adj" fmla="val 4000"/>
            </a:avLst>
          </a:prstGeom>
          <a:solidFill>
            <a:srgbClr val="13315C"/>
          </a:solidFill>
          <a:ln/>
        </p:spPr>
      </p:sp>
      <p:sp>
        <p:nvSpPr>
          <p:cNvPr id="11" name="Text 9"/>
          <p:cNvSpPr/>
          <p:nvPr/>
        </p:nvSpPr>
        <p:spPr>
          <a:xfrm>
            <a:off x="3520440" y="15544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Task 壳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566160" y="219456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8D4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同一份 body + appendix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B8D4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Command Shell + Skill Shell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943600" y="21945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7377"/>
                </a:solidFill>
              </a:rPr>
              <a:t>→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6217920" y="1280160"/>
            <a:ext cx="2697480" cy="2286000"/>
          </a:xfrm>
          <a:prstGeom prst="roundRect">
            <a:avLst>
              <a:gd name="adj" fmla="val 4000"/>
            </a:avLst>
          </a:prstGeom>
          <a:solidFill>
            <a:srgbClr val="0D7377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15544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IDE 投影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46520" y="219456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8D4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.cursor/commands/nhx-*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B8D4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.cursor/skills/nhx-*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B8D4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.trae/skills/nhx-*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IDE 执行 /nhx-&lt;stage&gt;-&lt;task&gt; 时，带入该任务绑定的 Guide 与 Sensor 检查要求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HX 交付控制框架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98080" y="482803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/ 14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8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Sensor · 反馈门禁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11480" y="6217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 Check Type · 任务直接绑定（无 Suite）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1051560"/>
            <a:ext cx="832104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1179576"/>
            <a:ext cx="1371600" cy="457200"/>
          </a:xfrm>
          <a:prstGeom prst="roundRect">
            <a:avLst>
              <a:gd name="adj" fmla="val 10000"/>
            </a:avLst>
          </a:prstGeom>
          <a:solidFill>
            <a:srgbClr val="0B2545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17957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103120" y="11430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规则文本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103120" y="14173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注入壳 / Hook，由对话模型评判；本地不调 LLM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11480" y="1874520"/>
            <a:ext cx="832104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502920" y="2002536"/>
            <a:ext cx="1371600" cy="457200"/>
          </a:xfrm>
          <a:prstGeom prst="roundRect">
            <a:avLst>
              <a:gd name="adj" fmla="val 10000"/>
            </a:avLst>
          </a:prstGeom>
          <a:solidFill>
            <a:srgbClr val="13315C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200253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shell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103120" y="19659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Shell 脚本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103120" y="224028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 content 中首个 bash 代码块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11480" y="2697480"/>
            <a:ext cx="832104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2825496"/>
            <a:ext cx="1371600" cy="457200"/>
          </a:xfrm>
          <a:prstGeom prst="roundRect">
            <a:avLst>
              <a:gd name="adj" fmla="val 10000"/>
            </a:avLst>
          </a:prstGeom>
          <a:solidFill>
            <a:srgbClr val="0D7377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28254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inline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103120" y="27889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内置函数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2103120" y="306324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file.exists · doc.sections_complete · approval.*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11480" y="3520440"/>
            <a:ext cx="832104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502920" y="3648456"/>
            <a:ext cx="1371600" cy="457200"/>
          </a:xfrm>
          <a:prstGeom prst="roundRect">
            <a:avLst>
              <a:gd name="adj" fmla="val 10000"/>
            </a:avLst>
          </a:prstGeom>
          <a:solidFill>
            <a:srgbClr val="7B4B94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364845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human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103120" y="3611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人工审批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2103120" y="38862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 human-check 工单态；默认 prd/arch/test 关卡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HX 交付控制框架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498080" y="482803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/ 14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8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Sensor 触发通道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11480" y="6217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可多选 · beforeSubmit 不阻断 · stop 失败可 followup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27432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2801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hook:beforeSubmit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600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提交指令前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9659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不阻断；human 提醒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097280"/>
            <a:ext cx="27432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2801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hook:afterFileEdit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29000" y="1600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文件编辑后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429000" y="19659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Scope glob 匹配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26480" y="1097280"/>
            <a:ext cx="27432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309360" y="12801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hook:stop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09360" y="1600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回合结束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309360" y="19659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失败可 followup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2651760"/>
            <a:ext cx="27432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2834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31546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nhx sensor check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48640" y="3520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 CLI 通道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246120" y="2651760"/>
            <a:ext cx="288036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3429000" y="28346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task-shell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429000" y="315468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任务壳附录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429000" y="35204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壳内要求执行 check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HX 交付控制框架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498080" y="482803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/ 14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8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本地交付工作流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11480" y="6217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nhx 推荐路径：登录 → 同步 → 任务 → 提交 → 审批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365760" cy="365760"/>
          </a:xfrm>
          <a:prstGeom prst="ellipse">
            <a:avLst/>
          </a:prstGeom>
          <a:solidFill>
            <a:srgbClr val="0D7377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51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2648" y="1417320"/>
            <a:ext cx="54864" cy="182880"/>
          </a:xfrm>
          <a:prstGeom prst="rect">
            <a:avLst/>
          </a:prstGeom>
          <a:solidFill>
            <a:srgbClr val="B8D4D4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00584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nhx login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126480" y="10058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 WebUI，写回本地凭证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1600200"/>
            <a:ext cx="365760" cy="365760"/>
          </a:xfrm>
          <a:prstGeom prst="ellipse">
            <a:avLst/>
          </a:prstGeom>
          <a:solidFill>
            <a:srgbClr val="0D737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2648" y="1965960"/>
            <a:ext cx="54864" cy="182880"/>
          </a:xfrm>
          <a:prstGeom prst="rect">
            <a:avLst/>
          </a:prstGeom>
          <a:solidFill>
            <a:srgbClr val="B8D4D4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15544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nhx init --project &lt;id&gt; --stages req,dev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126480" y="15544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首次拉资产并投影 IDE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148840"/>
            <a:ext cx="365760" cy="365760"/>
          </a:xfrm>
          <a:prstGeom prst="ellipse">
            <a:avLst/>
          </a:prstGeom>
          <a:solidFill>
            <a:srgbClr val="0D7377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2648" y="2514600"/>
            <a:ext cx="54864" cy="182880"/>
          </a:xfrm>
          <a:prstGeom prst="rect">
            <a:avLst/>
          </a:prstGeom>
          <a:solidFill>
            <a:srgbClr val="B8D4D4"/>
          </a:solidFill>
          <a:ln/>
        </p:spPr>
      </p:sp>
      <p:sp>
        <p:nvSpPr>
          <p:cNvPr id="19" name="Text 17"/>
          <p:cNvSpPr/>
          <p:nvPr/>
        </p:nvSpPr>
        <p:spPr>
          <a:xfrm>
            <a:off x="1051560" y="210312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/nhx-&lt;stage&gt;-&lt;task&gt;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126480" y="21031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IDE 任务壳（如 /nhx-req-prd-writing）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2697480"/>
            <a:ext cx="365760" cy="365760"/>
          </a:xfrm>
          <a:prstGeom prst="ellipse">
            <a:avLst/>
          </a:prstGeom>
          <a:solidFill>
            <a:srgbClr val="0D7377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2697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12648" y="3063240"/>
            <a:ext cx="54864" cy="182880"/>
          </a:xfrm>
          <a:prstGeom prst="rect">
            <a:avLst/>
          </a:prstGeom>
          <a:solidFill>
            <a:srgbClr val="B8D4D4"/>
          </a:solidFill>
          <a:ln/>
        </p:spPr>
      </p:sp>
      <p:sp>
        <p:nvSpPr>
          <p:cNvPr id="24" name="Text 22"/>
          <p:cNvSpPr/>
          <p:nvPr/>
        </p:nvSpPr>
        <p:spPr>
          <a:xfrm>
            <a:off x="1051560" y="265176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nhx submit ./docs/prd …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126480" y="26517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上传产物到 WebUI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3246120"/>
            <a:ext cx="365760" cy="365760"/>
          </a:xfrm>
          <a:prstGeom prst="ellipse">
            <a:avLst/>
          </a:prstGeom>
          <a:solidFill>
            <a:srgbClr val="0D7377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12648" y="3611880"/>
            <a:ext cx="54864" cy="182880"/>
          </a:xfrm>
          <a:prstGeom prst="rect">
            <a:avLst/>
          </a:prstGeom>
          <a:solidFill>
            <a:srgbClr val="B8D4D4"/>
          </a:solidFill>
          <a:ln/>
        </p:spPr>
      </p:sp>
      <p:sp>
        <p:nvSpPr>
          <p:cNvPr id="29" name="Text 27"/>
          <p:cNvSpPr/>
          <p:nvPr/>
        </p:nvSpPr>
        <p:spPr>
          <a:xfrm>
            <a:off x="1051560" y="320040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nhx approve request → WebUI 批准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126480" y="32004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发起 human-check，审批人批准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3794760"/>
            <a:ext cx="365760" cy="365760"/>
          </a:xfrm>
          <a:prstGeom prst="ellipse">
            <a:avLst/>
          </a:prstGeom>
          <a:solidFill>
            <a:srgbClr val="0D7377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51560" y="374904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nhx sensor check …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126480" y="37490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验证门禁（含人工关卡）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57200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HX 交付控制框架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498080" y="482803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/ 14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C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一句话总结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4173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组织在 WebUI 治理资产，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成员用 nhx 在本地按同一规则交付。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2926080"/>
            <a:ext cx="3657600" cy="502920"/>
          </a:xfrm>
          <a:prstGeom prst="roundRect">
            <a:avLst>
              <a:gd name="adj" fmla="val 14545"/>
            </a:avLst>
          </a:prstGeom>
          <a:solidFill>
            <a:srgbClr val="13315C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9260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8D4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资产优先于流程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0" y="2926080"/>
            <a:ext cx="3657600" cy="502920"/>
          </a:xfrm>
          <a:prstGeom prst="roundRect">
            <a:avLst>
              <a:gd name="adj" fmla="val 14545"/>
            </a:avLst>
          </a:prstGeom>
          <a:solidFill>
            <a:srgbClr val="13315C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29260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8D4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前馈 + 反馈双闭环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3566160"/>
            <a:ext cx="3657600" cy="502920"/>
          </a:xfrm>
          <a:prstGeom prst="roundRect">
            <a:avLst>
              <a:gd name="adj" fmla="val 14545"/>
            </a:avLst>
          </a:prstGeom>
          <a:solidFill>
            <a:srgbClr val="13315C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5661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8D4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默认可审计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0" y="3566160"/>
            <a:ext cx="3657600" cy="502920"/>
          </a:xfrm>
          <a:prstGeom prst="roundRect">
            <a:avLst>
              <a:gd name="adj" fmla="val 14545"/>
            </a:avLst>
          </a:prstGeom>
          <a:solidFill>
            <a:srgbClr val="13315C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35661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8D4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hx 并行隔离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HX 应用介绍</dc:title>
  <dc:subject>WebUI + nhx 交付控制框架</dc:subject>
  <dc:creator>HX</dc:creator>
  <cp:lastModifiedBy>HX</cp:lastModifiedBy>
  <cp:revision>1</cp:revision>
  <dcterms:created xsi:type="dcterms:W3CDTF">2026-07-29T07:23:16Z</dcterms:created>
  <dcterms:modified xsi:type="dcterms:W3CDTF">2026-07-29T07:23:16Z</dcterms:modified>
</cp:coreProperties>
</file>